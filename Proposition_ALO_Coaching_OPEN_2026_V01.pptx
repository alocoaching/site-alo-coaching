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6726C9-358D-45BA-9798-C1C0C3CDD11C}" v="1" dt="2026-04-08T14:38:19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ud LOYET" userId="f4acdf5e-5ddf-402f-874e-de8a98d195e3" providerId="ADAL" clId="{6FDFCDA7-CF61-480B-83F8-9BABB2657FA3}"/>
    <pc:docChg chg="undo custSel mod addSld delSld modSld">
      <pc:chgData name="Arnaud LOYET" userId="f4acdf5e-5ddf-402f-874e-de8a98d195e3" providerId="ADAL" clId="{6FDFCDA7-CF61-480B-83F8-9BABB2657FA3}" dt="2026-04-08T14:41:04.315" v="188" actId="790"/>
      <pc:docMkLst>
        <pc:docMk/>
      </pc:docMkLst>
      <pc:sldChg chg="delSp mod">
        <pc:chgData name="Arnaud LOYET" userId="f4acdf5e-5ddf-402f-874e-de8a98d195e3" providerId="ADAL" clId="{6FDFCDA7-CF61-480B-83F8-9BABB2657FA3}" dt="2026-04-08T14:40:35.663" v="186" actId="478"/>
        <pc:sldMkLst>
          <pc:docMk/>
          <pc:sldMk cId="0" sldId="257"/>
        </pc:sldMkLst>
        <pc:spChg chg="del">
          <ac:chgData name="Arnaud LOYET" userId="f4acdf5e-5ddf-402f-874e-de8a98d195e3" providerId="ADAL" clId="{6FDFCDA7-CF61-480B-83F8-9BABB2657FA3}" dt="2026-04-08T14:40:35.663" v="186" actId="478"/>
          <ac:spMkLst>
            <pc:docMk/>
            <pc:sldMk cId="0" sldId="257"/>
            <ac:spMk id="43" creationId="{00000000-0000-0000-0000-000000000000}"/>
          </ac:spMkLst>
        </pc:spChg>
      </pc:sldChg>
      <pc:sldChg chg="modSp mod">
        <pc:chgData name="Arnaud LOYET" userId="f4acdf5e-5ddf-402f-874e-de8a98d195e3" providerId="ADAL" clId="{6FDFCDA7-CF61-480B-83F8-9BABB2657FA3}" dt="2026-04-08T14:35:47.920" v="153" actId="1036"/>
        <pc:sldMkLst>
          <pc:docMk/>
          <pc:sldMk cId="0" sldId="258"/>
        </pc:sldMkLst>
        <pc:spChg chg="mod">
          <ac:chgData name="Arnaud LOYET" userId="f4acdf5e-5ddf-402f-874e-de8a98d195e3" providerId="ADAL" clId="{6FDFCDA7-CF61-480B-83F8-9BABB2657FA3}" dt="2026-04-08T14:32:55.965" v="20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5:30.458" v="134" actId="103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5:30.458" v="134" actId="103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4:19.592" v="121" actId="2057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4:56.923" v="127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4:56.923" v="127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5:47.920" v="153" actId="103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5:47.920" v="153" actId="103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5:47.920" v="153" actId="103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5:47.920" v="153" actId="103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5:47.920" v="153" actId="103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5:47.920" v="153" actId="103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5:47.920" v="153" actId="103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5:47.920" v="153" actId="103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5:47.920" v="153" actId="103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5:39.505" v="143" actId="1036"/>
          <ac:spMkLst>
            <pc:docMk/>
            <pc:sldMk cId="0" sldId="258"/>
            <ac:spMk id="33" creationId="{00000000-0000-0000-0000-000000000000}"/>
          </ac:spMkLst>
        </pc:spChg>
      </pc:sldChg>
      <pc:sldChg chg="modSp mod">
        <pc:chgData name="Arnaud LOYET" userId="f4acdf5e-5ddf-402f-874e-de8a98d195e3" providerId="ADAL" clId="{6FDFCDA7-CF61-480B-83F8-9BABB2657FA3}" dt="2026-04-08T14:40:49.575" v="187" actId="790"/>
        <pc:sldMkLst>
          <pc:docMk/>
          <pc:sldMk cId="0" sldId="259"/>
        </pc:sldMkLst>
        <pc:spChg chg="mod">
          <ac:chgData name="Arnaud LOYET" userId="f4acdf5e-5ddf-402f-874e-de8a98d195e3" providerId="ADAL" clId="{6FDFCDA7-CF61-480B-83F8-9BABB2657FA3}" dt="2026-04-08T14:40:49.575" v="187" actId="790"/>
          <ac:spMkLst>
            <pc:docMk/>
            <pc:sldMk cId="0" sldId="259"/>
            <ac:spMk id="11" creationId="{00000000-0000-0000-0000-000000000000}"/>
          </ac:spMkLst>
        </pc:spChg>
      </pc:sldChg>
      <pc:sldChg chg="modSp mod">
        <pc:chgData name="Arnaud LOYET" userId="f4acdf5e-5ddf-402f-874e-de8a98d195e3" providerId="ADAL" clId="{6FDFCDA7-CF61-480B-83F8-9BABB2657FA3}" dt="2026-04-08T14:41:04.315" v="188" actId="790"/>
        <pc:sldMkLst>
          <pc:docMk/>
          <pc:sldMk cId="0" sldId="260"/>
        </pc:sldMkLst>
        <pc:spChg chg="mod">
          <ac:chgData name="Arnaud LOYET" userId="f4acdf5e-5ddf-402f-874e-de8a98d195e3" providerId="ADAL" clId="{6FDFCDA7-CF61-480B-83F8-9BABB2657FA3}" dt="2026-04-08T14:36:08.797" v="154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41:04.315" v="188" actId="79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6:12.849" v="155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6:30.885" v="156" actId="1076"/>
          <ac:spMkLst>
            <pc:docMk/>
            <pc:sldMk cId="0" sldId="260"/>
            <ac:spMk id="29" creationId="{00000000-0000-0000-0000-000000000000}"/>
          </ac:spMkLst>
        </pc:spChg>
      </pc:sldChg>
      <pc:sldChg chg="modSp mod">
        <pc:chgData name="Arnaud LOYET" userId="f4acdf5e-5ddf-402f-874e-de8a98d195e3" providerId="ADAL" clId="{6FDFCDA7-CF61-480B-83F8-9BABB2657FA3}" dt="2026-04-08T14:39:37.182" v="183" actId="790"/>
        <pc:sldMkLst>
          <pc:docMk/>
          <pc:sldMk cId="0" sldId="262"/>
        </pc:sldMkLst>
        <pc:spChg chg="mod">
          <ac:chgData name="Arnaud LOYET" userId="f4acdf5e-5ddf-402f-874e-de8a98d195e3" providerId="ADAL" clId="{6FDFCDA7-CF61-480B-83F8-9BABB2657FA3}" dt="2026-04-08T14:37:17.020" v="157" actId="14100"/>
          <ac:spMkLst>
            <pc:docMk/>
            <pc:sldMk cId="0" sldId="262"/>
            <ac:spMk id="9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9:28.895" v="180" actId="79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9:37.182" v="183" actId="79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7:23.466" v="158" actId="14100"/>
          <ac:spMkLst>
            <pc:docMk/>
            <pc:sldMk cId="0" sldId="262"/>
            <ac:spMk id="18" creationId="{00000000-0000-0000-0000-000000000000}"/>
          </ac:spMkLst>
        </pc:spChg>
        <pc:spChg chg="mod">
          <ac:chgData name="Arnaud LOYET" userId="f4acdf5e-5ddf-402f-874e-de8a98d195e3" providerId="ADAL" clId="{6FDFCDA7-CF61-480B-83F8-9BABB2657FA3}" dt="2026-04-08T14:39:33.624" v="182" actId="790"/>
          <ac:spMkLst>
            <pc:docMk/>
            <pc:sldMk cId="0" sldId="262"/>
            <ac:spMk id="21" creationId="{00000000-0000-0000-0000-000000000000}"/>
          </ac:spMkLst>
        </pc:spChg>
      </pc:sldChg>
      <pc:sldChg chg="add del">
        <pc:chgData name="Arnaud LOYET" userId="f4acdf5e-5ddf-402f-874e-de8a98d195e3" providerId="ADAL" clId="{6FDFCDA7-CF61-480B-83F8-9BABB2657FA3}" dt="2026-04-08T14:40:28.281" v="185" actId="47"/>
        <pc:sldMkLst>
          <pc:docMk/>
          <pc:sldMk cId="0" sldId="263"/>
        </pc:sldMkLst>
      </pc:sldChg>
      <pc:sldChg chg="del">
        <pc:chgData name="Arnaud LOYET" userId="f4acdf5e-5ddf-402f-874e-de8a98d195e3" providerId="ADAL" clId="{6FDFCDA7-CF61-480B-83F8-9BABB2657FA3}" dt="2026-04-08T14:38:34.233" v="160" actId="47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E6ADB-391B-4985-90F6-D88817E18F04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58AB2D-1A29-4D64-A3EE-01CA64C6BA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0345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8AB2D-1A29-4D64-A3EE-01CA64C6BAB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22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loformationcoaching.netlify.app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73152" cy="320040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1371600"/>
            <a:ext cx="7315200" cy="1270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-a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457200"/>
            <a:ext cx="93353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173736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 i="0">
                <a:solidFill>
                  <a:srgbClr val="C8993E"/>
                </a:solidFill>
                <a:latin typeface="Calibri"/>
              </a:defRPr>
            </a:pPr>
            <a:r>
              <a:t>PROPOSITION COMMERCIALE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Calibri"/>
              </a:defRPr>
            </a:pPr>
            <a:r>
              <a:t>Direction de Projets &amp; Management du Site de Lannion — V01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383280"/>
            <a:ext cx="3657600" cy="1270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AAAAAA"/>
                </a:solidFill>
                <a:latin typeface="Calibri"/>
              </a:defRPr>
            </a:pPr>
            <a:r>
              <a:t>Client : OPEN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AAAAAA"/>
                </a:solidFill>
                <a:latin typeface="Calibri"/>
              </a:defRPr>
            </a:pPr>
            <a:r>
              <a:t>Référence ALOCF_2026001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777777"/>
                </a:solidFill>
                <a:latin typeface="Calibri"/>
              </a:defRPr>
            </a:pPr>
            <a:r>
              <a:t>Arnaud Loyet  —  Avril 2026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 i="1">
                <a:solidFill>
                  <a:srgbClr val="C8993E"/>
                </a:solidFill>
                <a:latin typeface="Calibri"/>
              </a:defRPr>
            </a:pPr>
            <a:r>
              <a:t>https://aloformationcoaching.netlify.app/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C8993E"/>
                </a:solidFill>
                <a:latin typeface="Calibri"/>
              </a:defRPr>
            </a:pPr>
            <a:r>
              <a:t>Proposition commerciale – Avril 2026</a:t>
            </a:r>
          </a:p>
        </p:txBody>
      </p:sp>
      <p:pic>
        <p:nvPicPr>
          <p:cNvPr id="7" name="Picture 6" descr="logo-alo-no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01168"/>
            <a:ext cx="594360" cy="594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371600" y="1463040"/>
            <a:ext cx="960120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463040"/>
            <a:ext cx="54864" cy="713232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54480" y="1591056"/>
            <a:ext cx="457200" cy="45720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159105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C8993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5544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A2332"/>
                </a:solidFill>
                <a:latin typeface="Calibri"/>
              </a:defRPr>
            </a:pPr>
            <a:r>
              <a:t>Périmètre juin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84708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55555"/>
                </a:solidFill>
                <a:latin typeface="Calibri"/>
              </a:defRPr>
            </a:pPr>
            <a:r>
              <a:t>8 jours (L+M) + 2 jours formation HSK2 à Rennes · 10 jours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2249424"/>
            <a:ext cx="9601200" cy="713232"/>
          </a:xfrm>
          <a:prstGeom prst="roundRect">
            <a:avLst/>
          </a:prstGeom>
          <a:solidFill>
            <a:srgbClr val="F4F1EB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71600" y="2249424"/>
            <a:ext cx="54864" cy="713232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554480" y="2377440"/>
            <a:ext cx="457200" cy="45720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4480" y="2377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C8993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340864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A2332"/>
                </a:solidFill>
                <a:latin typeface="Calibri"/>
              </a:defRPr>
            </a:pPr>
            <a:r>
              <a:t>Périmètre juillet / août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63347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55555"/>
                </a:solidFill>
                <a:latin typeface="Calibri"/>
              </a:defRPr>
            </a:pPr>
            <a:r>
              <a:t>3 jours fin juillet + 3 jours fin août · 6 jours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035808"/>
            <a:ext cx="960120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71600" y="3035808"/>
            <a:ext cx="54864" cy="713232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554480" y="3163824"/>
            <a:ext cx="457200" cy="45720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54480" y="316382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C8993E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12724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A2332"/>
                </a:solidFill>
                <a:latin typeface="Calibri"/>
              </a:defRPr>
            </a:pPr>
            <a:r>
              <a:t>Périmètre septembre → décembre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341985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55555"/>
                </a:solidFill>
                <a:latin typeface="Calibri"/>
              </a:defRPr>
            </a:pPr>
            <a:r>
              <a:t>Option 1 validée (2j/sem) · Option 2 en option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3822192"/>
            <a:ext cx="9601200" cy="713232"/>
          </a:xfrm>
          <a:prstGeom prst="roundRect">
            <a:avLst/>
          </a:prstGeom>
          <a:solidFill>
            <a:srgbClr val="F4F1EB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371600" y="3822192"/>
            <a:ext cx="54864" cy="713232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554480" y="3950208"/>
            <a:ext cx="457200" cy="45720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54480" y="39502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C8993E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91363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A2332"/>
                </a:solidFill>
                <a:latin typeface="Calibri"/>
              </a:defRPr>
            </a:pPr>
            <a:r>
              <a:t>Volet financier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206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55555"/>
                </a:solidFill>
                <a:latin typeface="Calibri"/>
              </a:defRPr>
            </a:pPr>
            <a:r>
              <a:t>TJM · Portage Jump · Synthèse budgétaire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4608576"/>
            <a:ext cx="960120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371600" y="4608576"/>
            <a:ext cx="54864" cy="713232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554480" y="4736592"/>
            <a:ext cx="457200" cy="45720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54480" y="47365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C8993E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4700016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A2332"/>
                </a:solidFill>
                <a:latin typeface="Calibri"/>
              </a:defRPr>
            </a:pPr>
            <a:r>
              <a:t>Conditions &amp; Modalités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499262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55555"/>
                </a:solidFill>
                <a:latin typeface="Calibri"/>
              </a:defRPr>
            </a:pPr>
            <a:r>
              <a:t>Validité · Facturation · Délais · Confidentialité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5394960"/>
            <a:ext cx="9601200" cy="713232"/>
          </a:xfrm>
          <a:prstGeom prst="roundRect">
            <a:avLst/>
          </a:prstGeom>
          <a:solidFill>
            <a:srgbClr val="F4F1EB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371600" y="5394960"/>
            <a:ext cx="54864" cy="713232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554480" y="5522976"/>
            <a:ext cx="457200" cy="457200"/>
          </a:xfrm>
          <a:prstGeom prst="round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554480" y="552297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1A2332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54864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A2332"/>
                </a:solidFill>
                <a:latin typeface="Calibri"/>
              </a:defRPr>
            </a:pPr>
            <a:r>
              <a:t>Annexes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400800"/>
            <a:ext cx="11277295" cy="1905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ALO Coaching &amp; Formation  |  Arnaud Loyet  |  Proposition commerciale – Avril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01  ·  PÉRIMÈTRE — JUIN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C8993E"/>
                </a:solidFill>
                <a:latin typeface="Calibri"/>
              </a:defRPr>
            </a:pPr>
            <a:r>
              <a:t>À partir du 8 juin  ·  Lundis &amp; mardis + Formation HSK2  ·  10 jours  ·  Basé site de Lannion</a:t>
            </a:r>
          </a:p>
        </p:txBody>
      </p:sp>
      <p:pic>
        <p:nvPicPr>
          <p:cNvPr id="7" name="Picture 6" descr="logo-alo-no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01168"/>
            <a:ext cx="594360" cy="594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" y="1444752"/>
            <a:ext cx="5120640" cy="2926080"/>
          </a:xfrm>
          <a:prstGeom prst="round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12064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120640" cy="54864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663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 i="0">
                <a:solidFill>
                  <a:srgbClr val="C8993E"/>
                </a:solidFill>
                <a:latin typeface="Calibri"/>
              </a:defRPr>
            </a:pPr>
            <a:r>
              <a:t>🏢  SITE LANNION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965960"/>
            <a:ext cx="54864" cy="237744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48840"/>
            <a:ext cx="46634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2D2D2D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t>▸  Gestion CDP &amp; Hebdo Prod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t>    Pilotage de la réunion hebdomadaire de production,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t>    suivi des plans d'action, reporting managérial</a:t>
            </a:r>
          </a:p>
          <a:p>
            <a:pPr algn="l">
              <a:spcBef>
                <a:spcPts val="160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t>▸  Gestion du site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t>    Administration générale du site (~1 jour/mois réparti),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t>    coordination des équipes Lannion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 i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86329" y="4307586"/>
            <a:ext cx="2560320" cy="41148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587" y="4298442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8993E"/>
                </a:solidFill>
                <a:latin typeface="Calibri"/>
              </a:defRPr>
            </a:pPr>
            <a:r>
              <a:t>≈ 0.5 jour / semaine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444752"/>
            <a:ext cx="5303520" cy="2926080"/>
          </a:xfrm>
          <a:prstGeom prst="round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17920" y="1417320"/>
            <a:ext cx="530352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5303520" cy="54864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463040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 i="0">
                <a:solidFill>
                  <a:srgbClr val="C8993E"/>
                </a:solidFill>
                <a:latin typeface="Calibri"/>
              </a:defRPr>
            </a:pPr>
            <a:r>
              <a:t>📡  ORANGE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965960"/>
            <a:ext cx="54864" cy="237744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39" y="1755648"/>
            <a:ext cx="5105095" cy="26443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2D2D2D"/>
                </a:solidFill>
                <a:latin typeface="Calibri"/>
              </a:defRPr>
            </a:pPr>
            <a:endParaRPr lang="fr-FR" sz="1100" noProof="0"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rPr lang="fr-FR" sz="1100" noProof="0" dirty="0"/>
              <a:t>▸  Delivery projets Orange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sz="1000" noProof="0" dirty="0"/>
              <a:t>    Suivi des projets MOBA, PDC et CTOOP (planification, </a:t>
            </a:r>
            <a:r>
              <a:rPr lang="fr-FR" sz="1000" noProof="0" dirty="0" err="1"/>
              <a:t>staffing</a:t>
            </a:r>
            <a:r>
              <a:rPr lang="fr-FR" sz="1000" noProof="0" dirty="0"/>
              <a:t>, hebdo)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sz="1000" noProof="0" dirty="0"/>
              <a:t>    Accompagnement et coaching des CP du programme Orange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rPr lang="fr-FR" sz="1100" noProof="0" dirty="0"/>
              <a:t>▸  Suivi Delivery Commerce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sz="1000" noProof="0" dirty="0"/>
              <a:t>    Coordination </a:t>
            </a:r>
            <a:r>
              <a:rPr lang="fr-FR" sz="1000" noProof="0" dirty="0" err="1"/>
              <a:t>delivery</a:t>
            </a:r>
            <a:r>
              <a:rPr lang="fr-FR" sz="1000" noProof="0" dirty="0"/>
              <a:t> des projets Orange, suivi des engagements et livrables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rPr lang="fr-FR" sz="1100" noProof="0" dirty="0"/>
              <a:t>▸  Gestion COPIL clés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sz="1000" noProof="0" dirty="0"/>
              <a:t>    Préparation et animation des comités de pilotage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rPr lang="fr-FR" sz="1100" noProof="0" dirty="0"/>
              <a:t>▸  Synchros CDP / DP / </a:t>
            </a:r>
            <a:r>
              <a:rPr lang="fr-FR" sz="1100" noProof="0" dirty="0" err="1"/>
              <a:t>Exec</a:t>
            </a:r>
            <a:endParaRPr lang="fr-FR" sz="1100" noProof="0" dirty="0"/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sz="1000" noProof="0" dirty="0"/>
              <a:t>    Points récurrents avec les chefs de projets, directeurs de projets et direction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3944" y="4319016"/>
            <a:ext cx="2560320" cy="41148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32543" y="4328160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8993E"/>
                </a:solidFill>
                <a:latin typeface="Calibri"/>
              </a:defRPr>
            </a:pPr>
            <a:r>
              <a:t>≈ 1.5 jours / semaine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5" y="4928616"/>
            <a:ext cx="10911535" cy="868680"/>
          </a:xfrm>
          <a:prstGeom prst="round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82473" y="4901184"/>
            <a:ext cx="10911535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2473" y="4901184"/>
            <a:ext cx="54864" cy="86868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1073" y="4974336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A2332"/>
                </a:solidFill>
                <a:latin typeface="Calibri"/>
              </a:defRPr>
            </a:pPr>
            <a:r>
              <a:t>🎓  FORMATION HSK2 / PILOTER SON PÉRIMÈTRE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3" y="531266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555555"/>
                </a:solidFill>
                <a:latin typeface="Calibri"/>
              </a:defRPr>
            </a:pPr>
            <a:r>
              <a:t>10 et 11 juin  ·  2 jours  ·  À Rennes  ·  Avec frais de déplacement (conditions OPEN)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82328" y="5084064"/>
            <a:ext cx="1645920" cy="45720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82328" y="5084064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C8993E"/>
                </a:solidFill>
                <a:latin typeface="Calibri"/>
              </a:defRPr>
            </a:pPr>
            <a:r>
              <a:t>+ 2 jours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843016"/>
            <a:ext cx="10911535" cy="50292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843016"/>
            <a:ext cx="1091153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C8993E"/>
                </a:solidFill>
                <a:latin typeface="Calibri"/>
              </a:defRPr>
            </a:pPr>
            <a:r>
              <a:t>TOTAL JUIN  ·  10 jours  ·  8 jours (L+M à partir du 8 juin) + 2 jours formation HSK2 (Rennes)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83096"/>
            <a:ext cx="11277295" cy="1905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ALO Coaching &amp; Formation  |  Arnaud Loyet  |  Proposition commerciale – Avril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02  ·  PÉRIMÈTRE — JUILLET / AOÛT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C8993E"/>
                </a:solidFill>
                <a:latin typeface="Calibri"/>
              </a:defRPr>
            </a:pPr>
            <a:r>
              <a:t>Interventions de clôture  ·  3 jours fin juillet + 3 jours fin août  ·  6 jours</a:t>
            </a:r>
          </a:p>
        </p:txBody>
      </p:sp>
      <p:pic>
        <p:nvPicPr>
          <p:cNvPr id="7" name="Picture 6" descr="logo-alo-no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01168"/>
            <a:ext cx="594360" cy="594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017623" y="1682496"/>
            <a:ext cx="8229600" cy="3017520"/>
          </a:xfrm>
          <a:prstGeom prst="round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981047" y="1645920"/>
            <a:ext cx="822960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81047" y="1645920"/>
            <a:ext cx="54864" cy="301752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46807" y="1920240"/>
            <a:ext cx="74980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2D2D2D"/>
                </a:solidFill>
                <a:latin typeface="Calibri"/>
              </a:defRPr>
            </a:pPr>
            <a:endParaRPr lang="fr-FR" noProof="0"/>
          </a:p>
          <a:p>
            <a:pPr algn="l">
              <a:spcBef>
                <a:spcPts val="400"/>
              </a:spcBef>
              <a:spcAft>
                <a:spcPts val="200"/>
              </a:spcAft>
              <a:defRPr sz="1900" b="1" i="0">
                <a:solidFill>
                  <a:srgbClr val="1A2332"/>
                </a:solidFill>
                <a:latin typeface="Calibri"/>
              </a:defRPr>
            </a:pPr>
            <a:r>
              <a:rPr lang="fr-FR" noProof="0" dirty="0"/>
              <a:t>📅  Clôture fin juillet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     29, 30 et 31 juillet 2026  —  3 jours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     Revue de production, bilan mensuel, préparation de la période estivale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000" b="0" i="0">
                <a:solidFill>
                  <a:srgbClr val="2D2D2D"/>
                </a:solidFill>
                <a:latin typeface="Calibri"/>
              </a:defRPr>
            </a:pPr>
            <a:endParaRPr lang="fr-FR" noProof="0" dirty="0"/>
          </a:p>
          <a:p>
            <a:pPr algn="l">
              <a:spcBef>
                <a:spcPts val="800"/>
              </a:spcBef>
              <a:spcAft>
                <a:spcPts val="200"/>
              </a:spcAft>
              <a:defRPr sz="1900" b="1" i="0">
                <a:solidFill>
                  <a:srgbClr val="1A2332"/>
                </a:solidFill>
                <a:latin typeface="Calibri"/>
              </a:defRPr>
            </a:pPr>
            <a:r>
              <a:rPr lang="fr-FR" noProof="0" dirty="0"/>
              <a:t>📅  Clôture fin août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     27, 28 et 31 août 2026  —  3 jours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     Bilan estival, reprise du suivi avec les CP &amp; les équipes,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     préparation de la rentrée, alignement des plannings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8207" y="4937760"/>
            <a:ext cx="2468880" cy="91440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18207" y="50109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C8993E"/>
                </a:solidFill>
                <a:latin typeface="Calibri"/>
              </a:defRPr>
            </a:pPr>
            <a:r>
              <a:t>JUILLET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8207" y="525780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3 jours</a:t>
            </a:r>
            <a:br/>
            <a:r>
              <a:t>29, 30, 31 juil.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61407" y="4937760"/>
            <a:ext cx="2468880" cy="91440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61407" y="50109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C8993E"/>
                </a:solidFill>
                <a:latin typeface="Calibri"/>
              </a:defRPr>
            </a:pPr>
            <a:r>
              <a:t>AOÛT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1407" y="525780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3 jours</a:t>
            </a:r>
            <a:br/>
            <a:r>
              <a:t>27, 28, 31 août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04607" y="4937760"/>
            <a:ext cx="2468880" cy="91440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4607" y="50109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C8993E"/>
                </a:solidFill>
                <a:latin typeface="Calibri"/>
              </a:defRPr>
            </a:pPr>
            <a:r>
              <a:t>TOTAL ÉTÉ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4607" y="525780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6 jours</a:t>
            </a:r>
            <a:br/>
            <a:r>
              <a:t>Juillet + Août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00800"/>
            <a:ext cx="11277295" cy="1905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ALO Coaching &amp; Formation  |  Arnaud Loyet  |  Proposition commerciale – Avril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008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03  ·  PÉRIMÈTRE — SEPTEMBRE À DÉCEMBRE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C8993E"/>
                </a:solidFill>
                <a:latin typeface="Calibri"/>
              </a:defRPr>
            </a:pPr>
            <a:r>
              <a:t>Option 1 validée  ·  Option 2 en option  ·  4 mois  ·  Basé site de Lannion</a:t>
            </a:r>
          </a:p>
        </p:txBody>
      </p:sp>
      <p:pic>
        <p:nvPicPr>
          <p:cNvPr id="7" name="Picture 6" descr="logo-alo-no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201168"/>
            <a:ext cx="594360" cy="594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" y="1399032"/>
            <a:ext cx="5120640" cy="4572000"/>
          </a:xfrm>
          <a:prstGeom prst="round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512064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120640" cy="50292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1A2332"/>
                </a:solidFill>
                <a:latin typeface="Calibri"/>
              </a:defRPr>
            </a:pPr>
            <a:r>
              <a:t>OPTION 1  —  Site / DCDP + DP Orange  ✅ VALIDÉ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874520"/>
            <a:ext cx="54864" cy="406908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057400"/>
            <a:ext cx="46634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2D2D2D"/>
                </a:solidFill>
                <a:latin typeface="Calibr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 i="0">
                <a:solidFill>
                  <a:srgbClr val="1A2332"/>
                </a:solidFill>
                <a:latin typeface="Calibri"/>
              </a:defRPr>
            </a:pPr>
            <a:r>
              <a:t>2 jours / semaine (lundis &amp; mardis)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2D2D2D"/>
                </a:solidFill>
                <a:latin typeface="Calibri"/>
              </a:defRPr>
            </a:pPr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t>🏢  Site Lannion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t>  ▸ Gestion CDP &amp; Hebdo Prod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t>  ▸ Gestion du site (~1j/mois)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t>📡  Orange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t>  ▸ PSH projets (MOBA + PDC + CTOOP)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t>  ▸ Suivi Delivery Commerce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t>  ▸ COPIL clés du périmètre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t>  ▸ Synchros CDP / DP / Exec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166360"/>
            <a:ext cx="4114800" cy="41148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8993E"/>
                </a:solidFill>
                <a:latin typeface="Calibri"/>
              </a:defRPr>
            </a:pPr>
            <a:r>
              <a:t>≈ 8 jours / mois  ·  32 jours sur 4 mois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99032"/>
            <a:ext cx="5303520" cy="4572000"/>
          </a:xfrm>
          <a:prstGeom prst="round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AAAAAA"/>
                </a:solidFill>
                <a:latin typeface="Calibri"/>
              </a:defRPr>
            </a:pPr>
            <a:r>
              <a:t>OPTION 2  —  Focus DP Orange  (en option)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874520"/>
            <a:ext cx="54864" cy="406908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2057400"/>
            <a:ext cx="48463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2D2D2D"/>
                </a:solidFill>
                <a:latin typeface="Calibri"/>
              </a:defRPr>
            </a:pPr>
            <a:endParaRPr lang="fr-FR" noProof="0"/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 i="0">
                <a:solidFill>
                  <a:srgbClr val="1A2332"/>
                </a:solidFill>
                <a:latin typeface="Calibri"/>
              </a:defRPr>
            </a:pPr>
            <a:r>
              <a:rPr lang="fr-FR" noProof="0"/>
              <a:t>Focus Orange uniquement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noProof="0"/>
              <a:t>(hors périmètre site Lannion)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2D2D2D"/>
                </a:solidFill>
                <a:latin typeface="Calibri"/>
              </a:defRPr>
            </a:pPr>
            <a:endParaRPr lang="fr-FR" noProof="0"/>
          </a:p>
          <a:p>
            <a:pPr algn="l">
              <a:spcBef>
                <a:spcPts val="80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rPr lang="fr-FR" noProof="0"/>
              <a:t>📌  Jours fixes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55555"/>
                </a:solidFill>
                <a:latin typeface="Calibri"/>
              </a:defRPr>
            </a:pPr>
            <a:r>
              <a:rPr lang="fr-FR" noProof="0"/>
              <a:t>  ▸ 1 jour / semaine (les lundis)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555555"/>
                </a:solidFill>
                <a:latin typeface="Calibri"/>
              </a:defRPr>
            </a:pPr>
            <a:r>
              <a:rPr lang="fr-FR" noProof="0"/>
              <a:t>     PSH, Delivery Commerce, synchros récurrentes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rPr lang="fr-FR" noProof="0"/>
              <a:t>📌  Jours variables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55555"/>
                </a:solidFill>
                <a:latin typeface="Calibri"/>
              </a:defRPr>
            </a:pPr>
            <a:r>
              <a:rPr lang="fr-FR" noProof="0"/>
              <a:t>  ▸ ~2 jours / mois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555555"/>
                </a:solidFill>
                <a:latin typeface="Calibri"/>
              </a:defRPr>
            </a:pPr>
            <a:r>
              <a:rPr lang="fr-FR" noProof="0"/>
              <a:t>     Réunions hors gestion directe, ne pouvant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555555"/>
                </a:solidFill>
                <a:latin typeface="Calibri"/>
              </a:defRPr>
            </a:pPr>
            <a:r>
              <a:rPr lang="fr-FR" noProof="0"/>
              <a:t>     être planifiées les lundis/mardis :   CPOM, clôture mensuelle, COPIL imposés client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166360"/>
            <a:ext cx="4114800" cy="41148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516636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8993E"/>
                </a:solidFill>
                <a:latin typeface="Calibri"/>
              </a:defRPr>
            </a:pPr>
            <a:r>
              <a:t>≈ 6 jours / mois  ·  24 jours sur 4 mois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6172200"/>
            <a:ext cx="5364327" cy="411480"/>
          </a:xfrm>
          <a:prstGeom prst="round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172200"/>
            <a:ext cx="5364327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1A2332"/>
                </a:solidFill>
                <a:latin typeface="Calibri"/>
              </a:defRPr>
            </a:pPr>
            <a:r>
              <a:t>Option 1 : 32 jours (sept→déc)  ✅ VALIDÉ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7287" y="6172200"/>
            <a:ext cx="5364327" cy="41148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87287" y="6172200"/>
            <a:ext cx="5364327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 i="0">
                <a:solidFill>
                  <a:srgbClr val="AAAAAA"/>
                </a:solidFill>
                <a:latin typeface="Calibri"/>
              </a:defRPr>
            </a:pPr>
            <a:r>
              <a:t>Option 2 : 24 jours (sept→déc)  — en option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765798"/>
            <a:ext cx="11277295" cy="1905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583680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rPr dirty="0"/>
              <a:t>ALO Coaching &amp; Formation  |  Arnaud </a:t>
            </a:r>
            <a:r>
              <a:rPr dirty="0" err="1"/>
              <a:t>Loyet</a:t>
            </a:r>
            <a:r>
              <a:rPr dirty="0"/>
              <a:t>  |  Proposition </a:t>
            </a:r>
            <a:r>
              <a:rPr dirty="0" err="1"/>
              <a:t>commerciale</a:t>
            </a:r>
            <a:r>
              <a:rPr dirty="0"/>
              <a:t> – Avril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04  ·  VOLET FINANCIER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C8993E"/>
                </a:solidFill>
                <a:latin typeface="Calibri"/>
              </a:defRPr>
            </a:pPr>
            <a:r>
              <a:t>TJM 800 € HT  ·  Portage via Jump  ·  Option 1 validée</a:t>
            </a:r>
          </a:p>
        </p:txBody>
      </p:sp>
      <p:pic>
        <p:nvPicPr>
          <p:cNvPr id="7" name="Picture 6" descr="logo-alo-no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01168"/>
            <a:ext cx="594360" cy="594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325880"/>
            <a:ext cx="3840480" cy="109728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9903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C8993E"/>
                </a:solidFill>
                <a:latin typeface="Calibri"/>
              </a:defRPr>
            </a:pPr>
            <a:r>
              <a:t>TAUX JOURNALIER MOYEN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3840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800 € HT / jour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3752" y="1353312"/>
            <a:ext cx="6766560" cy="1097280"/>
          </a:xfrm>
          <a:prstGeom prst="round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46320" y="1325880"/>
            <a:ext cx="676656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46320" y="1325880"/>
            <a:ext cx="54864" cy="109728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1417320"/>
            <a:ext cx="6309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2D2D2D"/>
                </a:solidFill>
                <a:latin typeface="Calibr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t>PORTAGE VIA JUMP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 i="0">
                <a:solidFill>
                  <a:srgbClr val="C8993E"/>
                </a:solidFill>
                <a:latin typeface="Calibri"/>
              </a:defRPr>
            </a:pPr>
            <a:r>
              <a:t>Surcoût :  + 150 € / mois  (forfait fixe, indépendant du volume)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606040"/>
            <a:ext cx="2926080" cy="347472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606040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C8993E"/>
                </a:solidFill>
                <a:latin typeface="Calibri"/>
              </a:defRPr>
            </a:pPr>
            <a:r>
              <a:t>Période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2606040"/>
            <a:ext cx="1188720" cy="347472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26060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C8993E"/>
                </a:solidFill>
                <a:latin typeface="Calibri"/>
              </a:defRPr>
            </a:pPr>
            <a:r>
              <a:t>Jours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606040"/>
            <a:ext cx="2011680" cy="347472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2606040"/>
            <a:ext cx="2011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C8993E"/>
                </a:solidFill>
                <a:latin typeface="Calibri"/>
              </a:defRPr>
            </a:pPr>
            <a:r>
              <a:t>Montant 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2606040"/>
            <a:ext cx="2011680" cy="347472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2606040"/>
            <a:ext cx="2011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C8993E"/>
                </a:solidFill>
                <a:latin typeface="Calibri"/>
              </a:defRPr>
            </a:pPr>
            <a:r>
              <a:t>+ Jump (150€/mois)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2606040"/>
            <a:ext cx="2286000" cy="347472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0" y="2606040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C8993E"/>
                </a:solidFill>
                <a:latin typeface="Calibri"/>
              </a:defRPr>
            </a:pPr>
            <a:r>
              <a:t>Total avec Jump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95351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2953512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Juin (8j L+M + 2j formation HSK2)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953512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0" y="2953512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10 j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953512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0" y="2953512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8 000 €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2953512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2953512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C8993E"/>
                </a:solidFill>
                <a:latin typeface="Calibri"/>
              </a:defRPr>
            </a:pPr>
            <a:r>
              <a:t>+ 150 €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2953512"/>
            <a:ext cx="2286000" cy="347472"/>
          </a:xfrm>
          <a:prstGeom prst="rect">
            <a:avLst/>
          </a:prstGeom>
          <a:solidFill>
            <a:srgbClr val="1A2332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69680" y="2953512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C8993E"/>
                </a:solidFill>
                <a:latin typeface="Calibri"/>
              </a:defRPr>
            </a:pPr>
            <a:r>
              <a:t>8 150 €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300984"/>
            <a:ext cx="2926080" cy="347472"/>
          </a:xfrm>
          <a:prstGeom prst="rect">
            <a:avLst/>
          </a:prstGeom>
          <a:solidFill>
            <a:srgbClr val="F4F1EB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3300984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Juillet (29, 30, 31 juil.)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3300984"/>
            <a:ext cx="1188720" cy="347472"/>
          </a:xfrm>
          <a:prstGeom prst="rect">
            <a:avLst/>
          </a:prstGeom>
          <a:solidFill>
            <a:srgbClr val="F4F1EB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0" y="3300984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3 j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3300984"/>
            <a:ext cx="2011680" cy="347472"/>
          </a:xfrm>
          <a:prstGeom prst="rect">
            <a:avLst/>
          </a:prstGeom>
          <a:solidFill>
            <a:srgbClr val="F4F1EB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0" y="3300984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2 400 €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3300984"/>
            <a:ext cx="2011680" cy="347472"/>
          </a:xfrm>
          <a:prstGeom prst="rect">
            <a:avLst/>
          </a:prstGeom>
          <a:solidFill>
            <a:srgbClr val="F4F1EB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0" y="3300984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C8993E"/>
                </a:solidFill>
                <a:latin typeface="Calibri"/>
              </a:defRPr>
            </a:pPr>
            <a:r>
              <a:t>+ 150 €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3300984"/>
            <a:ext cx="2286000" cy="347472"/>
          </a:xfrm>
          <a:prstGeom prst="rect">
            <a:avLst/>
          </a:prstGeom>
          <a:solidFill>
            <a:srgbClr val="1A2332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869680" y="3300984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C8993E"/>
                </a:solidFill>
                <a:latin typeface="Calibri"/>
              </a:defRPr>
            </a:pPr>
            <a:r>
              <a:t>2 550 €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3648456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3648456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Août (27, 28, 31 août)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66160" y="3648456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0" y="3648456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3 j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3648456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46320" y="3648456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2 400 €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0" y="3648456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58000" y="3648456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C8993E"/>
                </a:solidFill>
                <a:latin typeface="Calibri"/>
              </a:defRPr>
            </a:pPr>
            <a:r>
              <a:t>+ 150 €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78240" y="3648456"/>
            <a:ext cx="2286000" cy="347472"/>
          </a:xfrm>
          <a:prstGeom prst="rect">
            <a:avLst/>
          </a:prstGeom>
          <a:solidFill>
            <a:srgbClr val="1A2332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869680" y="3648456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C8993E"/>
                </a:solidFill>
                <a:latin typeface="Calibri"/>
              </a:defRPr>
            </a:pPr>
            <a:r>
              <a:t>2 550 €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995928"/>
            <a:ext cx="2926080" cy="347472"/>
          </a:xfrm>
          <a:prstGeom prst="rect">
            <a:avLst/>
          </a:prstGeom>
          <a:solidFill>
            <a:srgbClr val="F4F1EB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20" y="3995928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Sept→Déc · Option 1 ✅ VALIDÉ (2j/sem)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66160" y="3995928"/>
            <a:ext cx="1188720" cy="347472"/>
          </a:xfrm>
          <a:prstGeom prst="rect">
            <a:avLst/>
          </a:prstGeom>
          <a:solidFill>
            <a:srgbClr val="F4F1EB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0" y="3995928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32 j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54880" y="3995928"/>
            <a:ext cx="2011680" cy="347472"/>
          </a:xfrm>
          <a:prstGeom prst="rect">
            <a:avLst/>
          </a:prstGeom>
          <a:solidFill>
            <a:srgbClr val="F4F1EB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846320" y="3995928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25 600 €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66560" y="3995928"/>
            <a:ext cx="2011680" cy="347472"/>
          </a:xfrm>
          <a:prstGeom prst="rect">
            <a:avLst/>
          </a:prstGeom>
          <a:solidFill>
            <a:srgbClr val="F4F1EB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858000" y="3995928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C8993E"/>
                </a:solidFill>
                <a:latin typeface="Calibri"/>
              </a:defRPr>
            </a:pPr>
            <a:r>
              <a:t>+ 600 €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78240" y="3995928"/>
            <a:ext cx="2286000" cy="347472"/>
          </a:xfrm>
          <a:prstGeom prst="rect">
            <a:avLst/>
          </a:prstGeom>
          <a:solidFill>
            <a:srgbClr val="1A2332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869680" y="3995928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C8993E"/>
                </a:solidFill>
                <a:latin typeface="Calibri"/>
              </a:defRPr>
            </a:pPr>
            <a:r>
              <a:t>26 200 €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4343400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31520" y="4343400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Sept→Déc · Option 2 (en option)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66160" y="4343400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657600" y="4343400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24 j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54880" y="4343400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846320" y="4343400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19 200 €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66560" y="4343400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858000" y="4343400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C8993E"/>
                </a:solidFill>
                <a:latin typeface="Calibri"/>
              </a:defRPr>
            </a:pPr>
            <a:r>
              <a:t>+ 600 €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778240" y="4343400"/>
            <a:ext cx="2286000" cy="347472"/>
          </a:xfrm>
          <a:prstGeom prst="rect">
            <a:avLst/>
          </a:prstGeom>
          <a:solidFill>
            <a:srgbClr val="1A2332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869680" y="4343400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C8993E"/>
                </a:solidFill>
                <a:latin typeface="Calibri"/>
              </a:defRPr>
            </a:pPr>
            <a:r>
              <a:t>19 800 €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" y="4873752"/>
            <a:ext cx="3474720" cy="91440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0080" y="4928616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C8993E"/>
                </a:solidFill>
                <a:latin typeface="Calibri"/>
              </a:defRPr>
            </a:pPr>
            <a:r>
              <a:t>TOTAL ANNUEL · Opt 1 + Jump  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93792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Juin + été + 2j/sem</a:t>
            </a:r>
            <a:br/>
            <a:r>
              <a:t>39 450 € HT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480560" y="4873752"/>
            <a:ext cx="3474720" cy="91440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480560" y="4928616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C8993E"/>
                </a:solidFill>
                <a:latin typeface="Calibri"/>
              </a:defRPr>
            </a:pPr>
            <a:r>
              <a:t>TOTAL ANNUEL · Opt 2 + Jump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80560" y="5193792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Juin + été + focus Orange</a:t>
            </a:r>
            <a:br/>
            <a:r>
              <a:t>33 050 € HT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6400800"/>
            <a:ext cx="11277295" cy="1905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ALO Coaching &amp; Formation  |  Arnaud Loyet  |  Proposition commerciale – Avril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05  ·  CONDITIONS &amp; MODALITÉS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C8993E"/>
                </a:solidFill>
                <a:latin typeface="Calibri"/>
              </a:defRPr>
            </a:pPr>
            <a:r>
              <a:t>Validité · Facturation · Délais · Confidentialité</a:t>
            </a:r>
          </a:p>
        </p:txBody>
      </p:sp>
      <p:pic>
        <p:nvPicPr>
          <p:cNvPr id="7" name="Picture 6" descr="logo-alo-no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01168"/>
            <a:ext cx="594360" cy="594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" y="1399032"/>
            <a:ext cx="5303520" cy="4572000"/>
          </a:xfrm>
          <a:prstGeom prst="round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5303520" cy="48996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4864" cy="457200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7548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2D2D2D"/>
                </a:solidFill>
                <a:latin typeface="Calibri"/>
              </a:defRPr>
            </a:pPr>
            <a:endParaRPr lang="fr-FR" noProof="0"/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rPr lang="fr-FR" noProof="0" dirty="0"/>
              <a:t>📋  Validité de la proposition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    La présente proposition est valable 30 jours   à compter de sa date d’émission (avril 2026).</a:t>
            </a:r>
          </a:p>
          <a:p>
            <a:pPr algn="l">
              <a:spcBef>
                <a:spcPts val="160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rPr lang="fr-FR" noProof="0" dirty="0"/>
              <a:t>💰  Facturation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    Facturation mensuelle à terme échu, sur la base des jours effectivement réalisés.</a:t>
            </a:r>
          </a:p>
          <a:p>
            <a:pPr algn="l">
              <a:spcBef>
                <a:spcPts val="160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rPr lang="fr-FR" noProof="0" dirty="0"/>
              <a:t>🔔  Délai de prévenance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    1 mois de préavis pour toute modification  ou résiliation de la mission.</a:t>
            </a:r>
          </a:p>
          <a:p>
            <a:pPr algn="l">
              <a:spcBef>
                <a:spcPts val="160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rPr lang="fr-FR" noProof="0" dirty="0"/>
              <a:t>🔒  Confidentialité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    Les informations échangées dans le cadre de cette mission restent strictement confidentielles.</a:t>
            </a:r>
          </a:p>
          <a:p>
            <a:pPr algn="l">
              <a:spcBef>
                <a:spcPts val="1600"/>
              </a:spcBef>
              <a:spcAft>
                <a:spcPts val="200"/>
              </a:spcAft>
              <a:defRPr sz="1500" b="1" i="0">
                <a:solidFill>
                  <a:srgbClr val="1A2332"/>
                </a:solidFill>
                <a:latin typeface="Calibri"/>
              </a:defRPr>
            </a:pPr>
            <a:r>
              <a:rPr lang="fr-FR" noProof="0" dirty="0"/>
              <a:t>🚗  Déplacements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    Mission basée sur le site de Lannion.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    En cas d'intervention sur le site de Rennes (tout ou partie)   application des frais de déplacement selon barème OPEN.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1399032"/>
            <a:ext cx="5212080" cy="2103120"/>
          </a:xfrm>
          <a:prstGeom prst="round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2120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212080" cy="4572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C8993E"/>
                </a:solidFill>
                <a:latin typeface="Calibri"/>
              </a:defRPr>
            </a:pPr>
            <a:r>
              <a:t>PORTAGE SALARIAL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4754880" cy="12208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2D2D2D"/>
                </a:solidFill>
                <a:latin typeface="Calibri"/>
              </a:defRPr>
            </a:pPr>
            <a:endParaRPr lang="fr-FR" noProof="0"/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1A2332"/>
                </a:solidFill>
                <a:latin typeface="Calibri"/>
              </a:defRPr>
            </a:pPr>
            <a:r>
              <a:rPr lang="fr-FR" noProof="0" dirty="0"/>
              <a:t>Option recommandée : Jump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 i="0">
                <a:solidFill>
                  <a:srgbClr val="C8993E"/>
                </a:solidFill>
                <a:latin typeface="Calibri"/>
              </a:defRPr>
            </a:pPr>
            <a:r>
              <a:rPr lang="fr-FR" noProof="0" dirty="0"/>
              <a:t>Forfait fixe : + 150 € / mois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 i="0">
                <a:solidFill>
                  <a:srgbClr val="2D2D2D"/>
                </a:solidFill>
                <a:latin typeface="Calibri"/>
              </a:defRPr>
            </a:pPr>
            <a:endParaRPr lang="fr-FR" noProof="0"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Alternative : ITG (+5 à 7% du CA)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3685032"/>
            <a:ext cx="5212080" cy="2286000"/>
          </a:xfrm>
          <a:prstGeom prst="round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9360" y="3657600"/>
            <a:ext cx="5212080" cy="2560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5212080" cy="4572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365760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C8993E"/>
                </a:solidFill>
                <a:latin typeface="Calibri"/>
              </a:defRPr>
            </a:pPr>
            <a:r>
              <a:t>INFORMATIONS PRATIQUES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06240"/>
            <a:ext cx="4754880" cy="1862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2D2D2D"/>
                </a:solidFill>
                <a:latin typeface="Calibri"/>
              </a:defRPr>
            </a:pPr>
            <a:endParaRPr lang="fr-FR" noProof="0"/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 i="0">
                <a:solidFill>
                  <a:srgbClr val="1A2332"/>
                </a:solidFill>
                <a:latin typeface="Calibri"/>
              </a:defRPr>
            </a:pPr>
            <a:r>
              <a:rPr lang="fr-FR" noProof="0" dirty="0"/>
              <a:t>Consultant : Arnaud </a:t>
            </a:r>
            <a:r>
              <a:rPr lang="fr-FR" noProof="0" dirty="0" err="1"/>
              <a:t>Loyet</a:t>
            </a:r>
            <a:endParaRPr lang="fr-FR" noProof="0"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 i="0">
                <a:solidFill>
                  <a:srgbClr val="2D2D2D"/>
                </a:solidFill>
                <a:latin typeface="Calibri"/>
              </a:defRPr>
            </a:pPr>
            <a:endParaRPr lang="fr-FR" noProof="0"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▸  Disponibilité : à partir de juin 2026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▸  Localisation : Lannion (sur site)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▸  Déplacements : Rennes ou autre = frais OPEN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 i="0">
                <a:solidFill>
                  <a:srgbClr val="555555"/>
                </a:solidFill>
                <a:latin typeface="Calibri"/>
              </a:defRPr>
            </a:pPr>
            <a:r>
              <a:rPr lang="fr-FR" noProof="0" dirty="0"/>
              <a:t>▸  Contact : arnaud.loyet@yahoo.fr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 i="0">
                <a:solidFill>
                  <a:srgbClr val="C8993E"/>
                </a:solidFill>
                <a:latin typeface="Calibri"/>
              </a:defRPr>
            </a:pPr>
            <a:r>
              <a:rPr lang="fr-FR" noProof="0" dirty="0"/>
              <a:t>▸  Web : </a:t>
            </a:r>
            <a:r>
              <a:rPr lang="fr-FR" noProof="0" dirty="0" err="1">
                <a:hlinkClick r:id="rId3"/>
              </a:rPr>
              <a:t>aloformationcoaching.netlify.app</a:t>
            </a:r>
            <a:endParaRPr lang="fr-FR" noProof="0" dirty="0"/>
          </a:p>
        </p:txBody>
      </p:sp>
      <p:sp>
        <p:nvSpPr>
          <p:cNvPr id="22" name="Rectangle 21"/>
          <p:cNvSpPr/>
          <p:nvPr/>
        </p:nvSpPr>
        <p:spPr>
          <a:xfrm>
            <a:off x="457200" y="6400800"/>
            <a:ext cx="11277295" cy="1905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ALO Coaching &amp; Formation  |  Arnaud Loyet  |  Proposition commerciale – Avril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377440"/>
            <a:ext cx="73152" cy="2286000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a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457200"/>
            <a:ext cx="93353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265176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 i="0">
                <a:solidFill>
                  <a:srgbClr val="C8993E"/>
                </a:solidFill>
                <a:latin typeface="Calibri"/>
              </a:defRPr>
            </a:pPr>
            <a:r>
              <a:t>ANNEXES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777777"/>
                </a:solidFill>
                <a:latin typeface="Calibri"/>
              </a:defRPr>
            </a:pPr>
            <a:r>
              <a:t>Arnaud Loyet  —  Avril 2026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 i="1">
                <a:solidFill>
                  <a:srgbClr val="C8993E"/>
                </a:solidFill>
                <a:latin typeface="Calibri"/>
              </a:defRPr>
            </a:pPr>
            <a:r>
              <a:t>https://aloformationcoaching.netlify.app/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89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1157</Words>
  <Application>Microsoft Office PowerPoint</Application>
  <PresentationFormat>Grand écran</PresentationFormat>
  <Paragraphs>179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Arnaud LOYET</cp:lastModifiedBy>
  <cp:revision>1</cp:revision>
  <dcterms:created xsi:type="dcterms:W3CDTF">2013-01-27T09:14:16Z</dcterms:created>
  <dcterms:modified xsi:type="dcterms:W3CDTF">2026-04-08T14:41:04Z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df9db-8b10-49ea-948f-f7d79516c205_Enabled">
    <vt:lpwstr>true</vt:lpwstr>
  </property>
  <property fmtid="{D5CDD505-2E9C-101B-9397-08002B2CF9AE}" pid="3" name="MSIP_Label_2a5df9db-8b10-49ea-948f-f7d79516c205_SetDate">
    <vt:lpwstr>2026-04-08T14:32:53Z</vt:lpwstr>
  </property>
  <property fmtid="{D5CDD505-2E9C-101B-9397-08002B2CF9AE}" pid="4" name="MSIP_Label_2a5df9db-8b10-49ea-948f-f7d79516c205_Method">
    <vt:lpwstr>Standard</vt:lpwstr>
  </property>
  <property fmtid="{D5CDD505-2E9C-101B-9397-08002B2CF9AE}" pid="5" name="MSIP_Label_2a5df9db-8b10-49ea-948f-f7d79516c205_Name">
    <vt:lpwstr>Protégé</vt:lpwstr>
  </property>
  <property fmtid="{D5CDD505-2E9C-101B-9397-08002B2CF9AE}" pid="6" name="MSIP_Label_2a5df9db-8b10-49ea-948f-f7d79516c205_SiteId">
    <vt:lpwstr>b8c6ba48-bc56-4139-b267-5a17f287beb1</vt:lpwstr>
  </property>
  <property fmtid="{D5CDD505-2E9C-101B-9397-08002B2CF9AE}" pid="7" name="MSIP_Label_2a5df9db-8b10-49ea-948f-f7d79516c205_ActionId">
    <vt:lpwstr>f28a73bf-b46a-42f9-bcf2-ab2a1f547db3</vt:lpwstr>
  </property>
  <property fmtid="{D5CDD505-2E9C-101B-9397-08002B2CF9AE}" pid="8" name="MSIP_Label_2a5df9db-8b10-49ea-948f-f7d79516c205_ContentBits">
    <vt:lpwstr>0</vt:lpwstr>
  </property>
  <property fmtid="{D5CDD505-2E9C-101B-9397-08002B2CF9AE}" pid="9" name="MSIP_Label_2a5df9db-8b10-49ea-948f-f7d79516c205_Tag">
    <vt:lpwstr>10, 3, 0, 1</vt:lpwstr>
  </property>
</Properties>
</file>